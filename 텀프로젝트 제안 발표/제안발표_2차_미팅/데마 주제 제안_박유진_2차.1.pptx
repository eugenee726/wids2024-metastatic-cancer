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63" r:id="rId6"/>
    <p:sldId id="259" r:id="rId7"/>
    <p:sldId id="260" r:id="rId8"/>
    <p:sldId id="269" r:id="rId9"/>
    <p:sldId id="266" r:id="rId10"/>
    <p:sldId id="268" r:id="rId11"/>
    <p:sldId id="271" r:id="rId12"/>
    <p:sldId id="264" r:id="rId13"/>
    <p:sldId id="26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F93F7-D49F-43AB-9DBE-B9E36699BBCA}" v="670" dt="2025-04-08T10:17:26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134" autoAdjust="0"/>
  </p:normalViewPr>
  <p:slideViewPr>
    <p:cSldViewPr snapToGrid="0">
      <p:cViewPr varScale="1">
        <p:scale>
          <a:sx n="80" d="100"/>
          <a:sy n="80" d="100"/>
        </p:scale>
        <p:origin x="77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41.0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0 210,'230'-9,"-112"2,527-44,52-3,826 41,-932 16,-424-1,198-5,-74-19,741 17,-568 7,-109 0,383-5,-442-8,175-3,68 14,511-10,459-6,-1388 16,-63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42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1,'2180'0,"-1468"39,-463-19,-4-2,792 38,607-56,-724-2,1072 2,-1589-14,7 1,-293 13,-86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44.4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1 131,'30'2,"-1"1,1 1,1 2,36 5,171 8,153-10,-372-9,234 1,1804-17,-1606 10,2713-2,-1905 10,-989 0,294-5,-252-22,-3-1,-91 13,90-2,389-12,-325 8,591 11,-572 11,1703-3,-1610-13,-48-1,74 15,-471-1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48.1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49,'4'0,"-1"1,1 0,0 0,-1 0,1 1,-1-1,0 1,1 0,-1 0,0 0,1 1,16 9,4-2,1-1,0-2,0-1,0 0,1-2,20 1,44-1,28-4,-53 0,3001-3,-2685-11,-147 3,1240-17,-1132 15,-26 0,195-3,-272 7,-85 6,-116 0,0-2,-1-2,-11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51.7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3,'43'8,"-7"0,250 14,10-13,-48-1,-26 0,422 24,-309-15,-128-8,-20 1,528 17,4664-29,-2942 3,-2206-14,-3-1,-153 14,533-16,-496 10,414-33,-226 12,192 9,-1 4,408 2,-568 14,2015-2,-2073 13,6 1,-187-14,0 4,56 12,-51-2,0-3,64-4,814-8,-948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54.0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0,'0'1,"1"0,-1-1,0 1,0 0,0-1,1 1,-1 0,0-1,1 1,-1 0,0-1,1 1,-1 0,1-1,-1 1,1-1,-1 1,1-1,-1 1,1-1,0 0,-1 1,1-1,0 0,-1 1,1-1,0 0,0 0,-1 0,27 5,-24-5,432 40,45-19,90-21,342 8,1123 10,-1420-19,-511 0,1357 13,-2 75,-1133-52,283 27,-363-48,128-12,417-7,-434 7,42 0,427-4,-580-11,34 0,-59 0,-12 1,-68 10,-15 3,1-7,87-16,-122 10,0 3,12 4,185 6,35-1,-144-13,29 0,-178 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12.2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0 135,'183'-1,"199"3,-185 10,31 2,733-15,-604-10,305-5,1527 17,-2083-5,5-5,83-4,395 12,-303 2,-192-5,14-5,70-4,96 10,215-10,-284-3,105-4,18 0,-317 19,214-8,54 11,-65 0,920-2,-1110 1,1 2,0 0,4 3,61 6,-54-8,0 1,7 3,-39-7,20 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21.4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0,'0'1,"0"0,1 0,-1 0,0-1,0 1,1 0,-1 0,0-1,1 1,-1 0,1-1,-1 1,1-1,-1 1,1 0,0-1,-1 1,1-1,-1 1,1-1,0 0,0 1,-1-1,1 0,0 1,0-1,-1 0,2 0,24 5,-21-4,76 6,64-4,-49-2,9 5,47 10,206 17,15-14,-162-19,7-1,4 11,146 4,-197-11,46 9,40 0,314 6,357-6,-580-14,-191 1,176 3,-192 10,15 0,308-12,-139-23,-202 14,342-13,-175 9,16 1,204 10,57-26,-23 3,2 26,-194 2,-302-3,208-1,154-23,-182 4,32 10,232 10,-207 3,156-3,-421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23.9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0,'57'0,"722"5,-2 26,-188 2,-32-20,-135-7,136 38,-406-29,188-1,-90-6,893 8,-750-18,4298 2,-4332-13,-35 0,56 14,143-3,-293-11,36-1,285 15,-504-3,-1-2,3-2,56-5,-57 8,196-13,-132 9,33 6,49-2,-139-2,25-7,-48 7,-18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31.5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0,'555'26,"-142"-4,-316-19,787 42,-641-8,-65-8,72-1,1-11,3-10,497-10,502 3,-813 13,85 1,-277-13,500-4,-447-10,89 0,50 15,338-4,-186-39,-339 19,864-21,-992 38,86-16,-71 6,5 5,-101 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8T03:44:34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81,'161'0,"1033"20,568 40,-1005-63,963 5,-1189 10,164 2,49-28,29 0,-318-1,-136 7,-93 5,109-20,-243 18,623-19,-636 22,0-4,24-6,-15 4,0 5,59 5,-21 1,1453-3,-1532-2,0-3,6-2,-5 1,48-1,-14 3,17-5,-14 1,4 3,523 5,-287 1,-278 3,-30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2BF35-9F45-4C88-851F-895F772EB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632BBD-6191-4BA9-AD9E-E523630E6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181DE-A431-4134-A91E-DBF3F1F8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ABA51A-92A6-4FC1-9BE5-290D9B6E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2C6D5-032A-4EFF-95A3-6E6F967C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0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F0CD1-7000-4C13-8D06-F4BED72C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F5E3F-9279-4E28-A8DB-2014083D8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A12D37-54F6-4BC2-A401-C13D0A03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68DD9-A560-48FB-B0AF-D94E599D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FCA83-7D18-4582-B93D-DE0065F1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70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2BD75-8364-42C1-904B-30CA3233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B8670E-6799-4622-8B09-2C4B36E64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C9DE05-47A1-4EF9-94C6-934CA35B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702B0-A919-4AC7-BAA3-AE68B83E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7DE5F-F8A1-4471-BC46-9C5C9906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33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81E95-A53D-45CF-A79D-ED955DDF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4CAA51-1F10-4178-A415-4CB1EB9B2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EA8D0A-DC80-4592-BF17-EEC2078E6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1772EF-B35B-45A2-B38A-107F188F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53355-1497-4779-9D1C-B9653097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EDA1A-73E6-45E7-BC2E-2A5372E9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05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D1C71-CABA-44DB-B811-076C1736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0E03B6-AE88-4DEF-BA59-D551BD97B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EA878D-10A5-4952-8D58-EA6590FB3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C1D40F-4CC7-4CE6-85C6-F993A7AB6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E4DD5D-27AD-4B65-88E5-550431C18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63FAF-0953-437F-ABF7-B898A37C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0C266A-9684-4A60-8A4A-C2BAE321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765C7E-988B-4AE6-B7D5-689CF21A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02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2FA8C-8678-4902-AA1A-12565D12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4FA0E5-C679-4A4E-B088-75A1CDD0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816A8-4B61-4D4A-AB62-319A7F1A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8DBFA3-D8C5-4F56-9DE4-27B676D3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64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3D4F03-7C4A-46DA-95CC-DDFB42C4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DD981C-2DAE-42F8-A376-5C93D4A8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112DED-8BF8-4028-9DDC-F29A6B05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73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8DE53-B3E8-4625-B4E7-00711D6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39F01-AB5E-4C89-884F-2C047D71C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0E28D5-B991-459C-89B5-9D1EF7457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8CD47E-C395-48D5-89F8-CD7CC19B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1DC6D2-B541-437A-8FFB-F01DB513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CBAA72-BEF8-439B-97DC-1D91D41E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13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6EF13-C6D9-40A6-9132-38B373E2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A407D0-8E73-40E9-9808-2D985969B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31FF52-2AC0-45FC-B31C-8699D3D7E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E683CF-06FA-4297-A5ED-5653A51E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4BF5FF-0026-4BC3-A783-3D6C1C3F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FBF2B4-361B-4093-9F66-69FC1FD1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86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9A471-7216-4E4C-8B8D-65090BA0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ECA81A-1F12-48E4-A961-587E53496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79A9D4-1C6D-4CF2-812D-8B5630BD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0700D4-52C2-4809-B852-6A61DE0F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1B505-01A2-45DD-90A8-63E2FD9EA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439071-C6FF-4300-B79B-3F355E92B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35E21A-80B4-408B-85CE-32CF05E7B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B8C367-AE11-4009-9E95-63D7C270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03A51E-4AA7-477D-862A-D497A804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9F015-D1CE-489D-9ABD-1F0F7C0A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1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A11960-B5B5-47AA-8D58-A10F05A6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5F7643-8A9B-4CD7-B565-E538DECD9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098B-2982-4073-B873-D5CCA6148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79212-F28E-4BFB-AC21-521A43ECFBC3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682CF-0329-4DB2-B828-2647A2BA5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82152C-1F59-4199-95E8-D6370B672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5BD4A-5E63-4AA8-ABC6-883865438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4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now.tour.go.kr/customer/contestevent/detail19Re.do?seq=28232" TargetMode="External"/><Relationship Id="rId2" Type="http://schemas.openxmlformats.org/officeDocument/2006/relationships/hyperlink" Target="https://dacon.io/edu/357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acon.io/competitions/official/236423/overview/descrip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3.png"/><Relationship Id="rId2" Type="http://schemas.openxmlformats.org/officeDocument/2006/relationships/image" Target="../media/image5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6.pn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4.xml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7.png"/><Relationship Id="rId5" Type="http://schemas.openxmlformats.org/officeDocument/2006/relationships/customXml" Target="../ink/ink8.xml"/><Relationship Id="rId10" Type="http://schemas.openxmlformats.org/officeDocument/2006/relationships/image" Target="../media/image16.png"/><Relationship Id="rId4" Type="http://schemas.openxmlformats.org/officeDocument/2006/relationships/image" Target="../media/image6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0.xml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customXml" Target="../ink/ink11.xml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011D5-CA48-4DA4-905C-CA6EEFFD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데이터마이닝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차 주제선정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38984-645D-4C87-960F-AF65AAD8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sz="2000" dirty="0"/>
              <a:t>2024 </a:t>
            </a:r>
            <a:r>
              <a:rPr lang="ko-KR" altLang="en-US" sz="2000" dirty="0"/>
              <a:t>제</a:t>
            </a:r>
            <a:r>
              <a:rPr lang="en-US" altLang="ko-KR" sz="2000" dirty="0"/>
              <a:t>4</a:t>
            </a:r>
            <a:r>
              <a:rPr lang="ko-KR" altLang="en-US" sz="2000" dirty="0"/>
              <a:t>회 </a:t>
            </a:r>
            <a:r>
              <a:rPr lang="en-US" altLang="ko-KR" sz="2000" dirty="0"/>
              <a:t>K-water AI </a:t>
            </a:r>
            <a:r>
              <a:rPr lang="ko-KR" altLang="en-US" sz="2000" dirty="0"/>
              <a:t>경진대회</a:t>
            </a:r>
            <a:r>
              <a:rPr lang="en-US" altLang="ko-KR" sz="2000" dirty="0"/>
              <a:t>: </a:t>
            </a:r>
            <a:r>
              <a:rPr lang="ko-KR" altLang="en-US" sz="2000" dirty="0"/>
              <a:t>상수도 관망 이상 감지 </a:t>
            </a:r>
            <a:r>
              <a:rPr lang="en-US" altLang="ko-KR" sz="2000" dirty="0"/>
              <a:t>AI </a:t>
            </a:r>
            <a:r>
              <a:rPr lang="ko-KR" altLang="en-US" sz="2000" dirty="0"/>
              <a:t>알고리즘 개발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hlinkClick r:id="rId2"/>
              </a:rPr>
              <a:t>https://dacon.io/edu/357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코드 및 데이터 공개</a:t>
            </a:r>
            <a:r>
              <a:rPr lang="en-US" altLang="ko-KR" sz="2000" dirty="0"/>
              <a:t>, </a:t>
            </a:r>
            <a:r>
              <a:rPr lang="ko-KR" altLang="en-US" sz="2000" dirty="0"/>
              <a:t>개선가능성이 현저히 낮고 코드 분석 및 도메인 이해에 대해 시간이 </a:t>
            </a:r>
            <a:r>
              <a:rPr lang="ko-KR" altLang="en-US" sz="2000" dirty="0" err="1"/>
              <a:t>오래걸림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2. 2024 </a:t>
            </a:r>
            <a:r>
              <a:rPr lang="ko-KR" altLang="en-US" sz="2000" dirty="0"/>
              <a:t>관광 데이터 분석 공모전</a:t>
            </a:r>
            <a:r>
              <a:rPr lang="en-US" altLang="ko-KR" sz="2000" dirty="0"/>
              <a:t>: level up, lead to my local tourism</a:t>
            </a:r>
          </a:p>
          <a:p>
            <a:pPr marL="0" indent="0">
              <a:buNone/>
            </a:pPr>
            <a:r>
              <a:rPr lang="en-US" altLang="ko-KR" sz="2000" dirty="0">
                <a:hlinkClick r:id="rId3"/>
              </a:rPr>
              <a:t>https://know.tour.go.kr/customer/contestevent/detail19Re.do?seq=28232</a:t>
            </a:r>
            <a:r>
              <a:rPr lang="en-US" altLang="ko-KR" sz="2000" dirty="0"/>
              <a:t> </a:t>
            </a:r>
          </a:p>
          <a:p>
            <a:pPr>
              <a:buFontTx/>
              <a:buChar char="-"/>
            </a:pPr>
            <a:r>
              <a:rPr lang="ko-KR" altLang="en-US" sz="2000" dirty="0"/>
              <a:t>데이터 </a:t>
            </a:r>
            <a:r>
              <a:rPr lang="ko-KR" altLang="en-US" sz="2000" dirty="0" err="1"/>
              <a:t>확보및</a:t>
            </a:r>
            <a:r>
              <a:rPr lang="ko-KR" altLang="en-US" sz="2000" dirty="0"/>
              <a:t> 일부 코드 확보</a:t>
            </a:r>
            <a:r>
              <a:rPr lang="en-US" altLang="ko-KR" sz="2000" dirty="0"/>
              <a:t>, </a:t>
            </a:r>
          </a:p>
          <a:p>
            <a:pPr>
              <a:buFontTx/>
              <a:buChar char="-"/>
            </a:pPr>
            <a:r>
              <a:rPr lang="ko-KR" altLang="en-US" sz="2000" dirty="0"/>
              <a:t>개선안은 회귀 분석에 대해 낮은 성능을 보여 차후 다양한 시도 가능할 것으로 예상됨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2736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D07F3-3CA6-47C2-905B-A2BF39DBE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800" y="1664028"/>
            <a:ext cx="10312400" cy="2387600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2024 </a:t>
            </a:r>
            <a:r>
              <a:rPr lang="ko-KR" altLang="en-US" sz="4400" dirty="0"/>
              <a:t>제</a:t>
            </a:r>
            <a:r>
              <a:rPr lang="en-US" altLang="ko-KR" sz="4400" dirty="0"/>
              <a:t>4</a:t>
            </a:r>
            <a:r>
              <a:rPr lang="ko-KR" altLang="en-US" sz="4400" dirty="0"/>
              <a:t>회 </a:t>
            </a:r>
            <a:r>
              <a:rPr lang="en-US" altLang="ko-KR" sz="4400" dirty="0"/>
              <a:t>K-water AI </a:t>
            </a:r>
            <a:r>
              <a:rPr lang="ko-KR" altLang="en-US" sz="4400" dirty="0"/>
              <a:t>경진대회</a:t>
            </a:r>
            <a:r>
              <a:rPr lang="en-US" altLang="ko-KR" sz="4400" dirty="0"/>
              <a:t>: </a:t>
            </a:r>
            <a:br>
              <a:rPr lang="en-US" altLang="ko-KR" sz="4400" dirty="0"/>
            </a:br>
            <a:r>
              <a:rPr lang="ko-KR" altLang="en-US" sz="4400" dirty="0"/>
              <a:t>상수도 관망 이상 감지 </a:t>
            </a:r>
            <a:r>
              <a:rPr lang="en-US" altLang="ko-KR" sz="4400" dirty="0"/>
              <a:t>AI </a:t>
            </a:r>
            <a:r>
              <a:rPr lang="ko-KR" altLang="en-US" sz="4400" dirty="0"/>
              <a:t>알고리즘 개발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4A6582-91DA-45C5-9728-D6768EB8D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07319"/>
            <a:ext cx="9144000" cy="1655762"/>
          </a:xfrm>
        </p:spPr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 err="1"/>
              <a:t>데이터마이닝</a:t>
            </a:r>
            <a:r>
              <a:rPr lang="ko-KR" altLang="en-US" dirty="0"/>
              <a:t> 주제 선정</a:t>
            </a:r>
            <a:r>
              <a:rPr lang="en-US" altLang="ko-K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6220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CCB29-037A-43C9-A7CB-1DE91BFE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B27D9-12BC-4C60-B593-F7E8962A6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공모전 및 수상작 소개</a:t>
            </a:r>
            <a:endParaRPr lang="en-US" altLang="ko-KR" dirty="0"/>
          </a:p>
          <a:p>
            <a:r>
              <a:rPr lang="ko-KR" altLang="en-US" dirty="0"/>
              <a:t>선정 이유</a:t>
            </a:r>
            <a:endParaRPr lang="en-US" altLang="ko-KR" dirty="0"/>
          </a:p>
          <a:p>
            <a:r>
              <a:rPr lang="ko-KR" altLang="en-US" dirty="0"/>
              <a:t>데이터 설명</a:t>
            </a:r>
            <a:endParaRPr lang="en-US" altLang="ko-KR" dirty="0"/>
          </a:p>
          <a:p>
            <a:r>
              <a:rPr lang="ko-KR" altLang="en-US" dirty="0"/>
              <a:t>베이스라인</a:t>
            </a:r>
            <a:r>
              <a:rPr lang="en-US" altLang="ko-KR" dirty="0"/>
              <a:t>(</a:t>
            </a:r>
            <a:r>
              <a:rPr lang="ko-KR" altLang="en-US" dirty="0"/>
              <a:t>모델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출품작</a:t>
            </a:r>
            <a:r>
              <a:rPr lang="en-US" altLang="ko-KR" dirty="0"/>
              <a:t>(</a:t>
            </a:r>
            <a:r>
              <a:rPr lang="ko-KR" altLang="en-US" dirty="0"/>
              <a:t>코드 및 아이디어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9280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BE62E-6E70-4319-AD91-1EF3FA57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공모전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1CE9B-806A-44E1-B421-1AC48D6D2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746" y="1581809"/>
            <a:ext cx="1125931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b="1" dirty="0"/>
              <a:t>2024 </a:t>
            </a:r>
            <a:r>
              <a:rPr lang="ko-KR" altLang="en-US" sz="2000" b="1" dirty="0"/>
              <a:t>제</a:t>
            </a:r>
            <a:r>
              <a:rPr lang="en-US" altLang="ko-KR" sz="2000" b="1" dirty="0"/>
              <a:t>4</a:t>
            </a:r>
            <a:r>
              <a:rPr lang="ko-KR" altLang="en-US" sz="2000" b="1" dirty="0"/>
              <a:t>회 </a:t>
            </a:r>
            <a:r>
              <a:rPr lang="en-US" altLang="ko-KR" sz="2000" b="1" dirty="0"/>
              <a:t>K-water AI </a:t>
            </a:r>
            <a:r>
              <a:rPr lang="ko-KR" altLang="en-US" sz="2000" b="1" dirty="0"/>
              <a:t>경진대회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상수도 관망 이상 감지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알고리즘 개발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1600" b="1" dirty="0"/>
              <a:t>주제 </a:t>
            </a:r>
            <a:r>
              <a:rPr lang="en-US" altLang="ko-KR" sz="1600" b="1" dirty="0"/>
              <a:t>: </a:t>
            </a:r>
            <a:r>
              <a:rPr lang="ko-KR" altLang="en-US" sz="1600" dirty="0"/>
              <a:t>상수도 관망 이상 감지 </a:t>
            </a:r>
            <a:r>
              <a:rPr lang="en-US" altLang="ko-KR" sz="1600" dirty="0"/>
              <a:t>AI </a:t>
            </a:r>
            <a:r>
              <a:rPr lang="ko-KR" altLang="en-US" sz="1600" dirty="0"/>
              <a:t>알고리즘 개발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b="1" dirty="0"/>
              <a:t>설명 </a:t>
            </a:r>
            <a:r>
              <a:rPr lang="en-US" altLang="ko-KR" sz="1600" b="1" dirty="0"/>
              <a:t>: </a:t>
            </a:r>
          </a:p>
          <a:p>
            <a:pPr marL="0" indent="0">
              <a:buNone/>
            </a:pPr>
            <a:r>
              <a:rPr lang="ko-KR" altLang="en-US" sz="1600" dirty="0"/>
              <a:t>다양한 상수도 관망의 실시간 이상을 감지하는 </a:t>
            </a:r>
            <a:r>
              <a:rPr lang="en-US" altLang="ko-KR" sz="1600" dirty="0"/>
              <a:t>AI </a:t>
            </a:r>
            <a:r>
              <a:rPr lang="ko-KR" altLang="en-US" sz="1600" dirty="0"/>
              <a:t>모델을 개발 공모전임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학습 데이터는 </a:t>
            </a:r>
            <a:r>
              <a:rPr lang="en-US" altLang="ko-KR" sz="1600" dirty="0"/>
              <a:t>A</a:t>
            </a:r>
            <a:r>
              <a:rPr lang="ko-KR" altLang="en-US" sz="1600" dirty="0"/>
              <a:t>와 </a:t>
            </a:r>
            <a:r>
              <a:rPr lang="en-US" altLang="ko-KR" sz="1600" dirty="0"/>
              <a:t>B </a:t>
            </a:r>
            <a:r>
              <a:rPr lang="ko-KR" altLang="en-US" sz="1600" dirty="0"/>
              <a:t>구조를 가진 상수도 관망 데이터로</a:t>
            </a:r>
            <a:r>
              <a:rPr lang="en-US" altLang="ko-KR" sz="1600" dirty="0"/>
              <a:t>, </a:t>
            </a:r>
            <a:r>
              <a:rPr lang="ko-KR" altLang="en-US" sz="1600" dirty="0"/>
              <a:t>분 단위의 시간 정보가 모두 공개됨</a:t>
            </a:r>
            <a:r>
              <a:rPr lang="en-US" altLang="ko-KR" sz="1600" dirty="0"/>
              <a:t> </a:t>
            </a:r>
          </a:p>
          <a:p>
            <a:pPr marL="0" indent="0">
              <a:buNone/>
            </a:pPr>
            <a:r>
              <a:rPr lang="ko-KR" altLang="en-US" sz="1600" dirty="0"/>
              <a:t>평가 데이터는 </a:t>
            </a:r>
            <a:r>
              <a:rPr lang="en-US" altLang="ko-KR" sz="1600" dirty="0"/>
              <a:t>C</a:t>
            </a:r>
            <a:r>
              <a:rPr lang="ko-KR" altLang="en-US" sz="1600" dirty="0"/>
              <a:t>와 </a:t>
            </a:r>
            <a:r>
              <a:rPr lang="en-US" altLang="ko-KR" sz="1600" dirty="0"/>
              <a:t>D </a:t>
            </a:r>
            <a:r>
              <a:rPr lang="ko-KR" altLang="en-US" sz="1600" dirty="0"/>
              <a:t>구조를 가진 상수도 관망 데이터로 제공되며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 시점 </a:t>
            </a:r>
            <a:r>
              <a:rPr lang="en-US" altLang="ko-KR" sz="1600" dirty="0"/>
              <a:t>T</a:t>
            </a:r>
            <a:r>
              <a:rPr lang="ko-KR" altLang="en-US" sz="1600" dirty="0"/>
              <a:t>를 기준으로 시간이 </a:t>
            </a:r>
            <a:r>
              <a:rPr lang="ko-KR" altLang="en-US" sz="1600" dirty="0" err="1"/>
              <a:t>비식별화되어</a:t>
            </a:r>
            <a:r>
              <a:rPr lang="ko-KR" altLang="en-US" sz="1600" dirty="0"/>
              <a:t> 있음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모델은 평가 데이터에서 최대 </a:t>
            </a:r>
            <a:r>
              <a:rPr lang="en-US" altLang="ko-KR" sz="1600" dirty="0"/>
              <a:t>1</a:t>
            </a:r>
            <a:r>
              <a:rPr lang="ko-KR" altLang="en-US" sz="1600" dirty="0"/>
              <a:t>주일 분량의 분 단위 입력 데이터를 바탕으로 </a:t>
            </a:r>
            <a:r>
              <a:rPr lang="en-US" altLang="ko-KR" sz="1600" dirty="0"/>
              <a:t>T+1</a:t>
            </a:r>
            <a:r>
              <a:rPr lang="ko-KR" altLang="en-US" sz="1600" dirty="0"/>
              <a:t>분 시점의 이상 여부를 감지해야 하며</a:t>
            </a:r>
            <a:r>
              <a:rPr lang="en-US" altLang="ko-KR" sz="1600" dirty="0"/>
              <a:t>, </a:t>
            </a:r>
            <a:r>
              <a:rPr lang="ko-KR" altLang="en-US" sz="1600" dirty="0"/>
              <a:t>관망 구조 내 존재하는 각각의 압력계</a:t>
            </a:r>
            <a:r>
              <a:rPr lang="en-US" altLang="ko-KR" sz="1600" dirty="0"/>
              <a:t>(P)</a:t>
            </a:r>
            <a:r>
              <a:rPr lang="ko-KR" altLang="en-US" sz="1600" dirty="0"/>
              <a:t>에 대해 이상을 감지할 수 있어야 함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Baseline</a:t>
            </a:r>
            <a:r>
              <a:rPr lang="ko-KR" altLang="en-US" sz="1600" dirty="0"/>
              <a:t>코드가 제공되며 해당 코드와 완전히 코드를 작성가능하고 이를 틀로 사용하여 보완해도 됨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b="1" dirty="0"/>
              <a:t>목표</a:t>
            </a:r>
            <a:r>
              <a:rPr lang="en-US" altLang="ko-KR" sz="1600" b="1" dirty="0"/>
              <a:t>: </a:t>
            </a:r>
          </a:p>
          <a:p>
            <a:pPr marL="0" indent="0">
              <a:buNone/>
            </a:pPr>
            <a:r>
              <a:rPr lang="ko-KR" altLang="en-US" sz="1600" dirty="0"/>
              <a:t>본 경진대회는 상수도 관망의 이상 시점과 누수 발생 구간을 정확하게 탐지할 수 있는 범용 </a:t>
            </a:r>
            <a:r>
              <a:rPr lang="en-US" altLang="ko-KR" sz="1600" dirty="0"/>
              <a:t>AI </a:t>
            </a:r>
            <a:r>
              <a:rPr lang="ko-KR" altLang="en-US" sz="1600" dirty="0"/>
              <a:t>알고리즘 개발을 목표로 함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대회 참가자들에게 다양한 상수도 관망의 실제 데이터를 제공하여</a:t>
            </a:r>
            <a:r>
              <a:rPr lang="en-US" altLang="ko-KR" sz="1600" dirty="0"/>
              <a:t>, </a:t>
            </a:r>
            <a:r>
              <a:rPr lang="ko-KR" altLang="en-US" sz="1600" dirty="0"/>
              <a:t>이를 기반으로 실시간으로 이상을 감지하고 효율적으로 의사결정을 지원할 수 있는 기술을 개발하도록 지원함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9687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BE62E-6E70-4319-AD91-1EF3FA57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공모전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1CE9B-806A-44E1-B421-1AC48D6D2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553528"/>
            <a:ext cx="1125931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b="1" dirty="0"/>
              <a:t>2024 </a:t>
            </a:r>
            <a:r>
              <a:rPr lang="ko-KR" altLang="en-US" sz="2000" b="1" dirty="0"/>
              <a:t>제</a:t>
            </a:r>
            <a:r>
              <a:rPr lang="en-US" altLang="ko-KR" sz="2000" b="1" dirty="0"/>
              <a:t>4</a:t>
            </a:r>
            <a:r>
              <a:rPr lang="ko-KR" altLang="en-US" sz="2000" b="1" dirty="0"/>
              <a:t>회 </a:t>
            </a:r>
            <a:r>
              <a:rPr lang="en-US" altLang="ko-KR" sz="2000" b="1" dirty="0"/>
              <a:t>K-water AI </a:t>
            </a:r>
            <a:r>
              <a:rPr lang="ko-KR" altLang="en-US" sz="2000" b="1" dirty="0"/>
              <a:t>경진대회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상수도 관망 이상 감지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알고리즘 개발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1600" dirty="0"/>
              <a:t>제약</a:t>
            </a:r>
            <a:r>
              <a:rPr lang="en-US" altLang="ko-KR" sz="1600" dirty="0"/>
              <a:t>: </a:t>
            </a:r>
          </a:p>
          <a:p>
            <a:pPr>
              <a:buFontTx/>
              <a:buChar char="-"/>
            </a:pPr>
            <a:r>
              <a:rPr lang="en-US" altLang="ko-KR" sz="1600" dirty="0"/>
              <a:t>1</a:t>
            </a:r>
            <a:r>
              <a:rPr lang="ko-KR" altLang="en-US" sz="1600" dirty="0"/>
              <a:t>분 단위로 구성된 데이터</a:t>
            </a:r>
            <a:endParaRPr lang="en-US" altLang="ko-KR" sz="1600" dirty="0"/>
          </a:p>
          <a:p>
            <a:pPr>
              <a:buFontTx/>
              <a:buChar char="-"/>
            </a:pPr>
            <a:r>
              <a:rPr lang="en-US" altLang="ko-KR" sz="1600" dirty="0"/>
              <a:t>T</a:t>
            </a:r>
            <a:r>
              <a:rPr lang="ko-KR" altLang="en-US" sz="1600" dirty="0"/>
              <a:t>시점에서 주어진 직전 </a:t>
            </a:r>
            <a:r>
              <a:rPr lang="en-US" altLang="ko-KR" sz="1600" dirty="0"/>
              <a:t>1</a:t>
            </a:r>
            <a:r>
              <a:rPr lang="ko-KR" altLang="en-US" sz="1600" dirty="0"/>
              <a:t>주일 간 압력계</a:t>
            </a:r>
            <a:r>
              <a:rPr lang="en-US" altLang="ko-KR" sz="1600" dirty="0"/>
              <a:t>/</a:t>
            </a:r>
            <a:r>
              <a:rPr lang="ko-KR" altLang="en-US" sz="1600" dirty="0"/>
              <a:t>유량계 값 추이로 </a:t>
            </a:r>
            <a:r>
              <a:rPr lang="en-US" altLang="ko-KR" sz="1600" dirty="0"/>
              <a:t>T+1 </a:t>
            </a:r>
            <a:r>
              <a:rPr lang="ko-KR" altLang="en-US" sz="1600" dirty="0"/>
              <a:t>시점에서의 관망 이상 및 누수 발생 구간 탐지</a:t>
            </a:r>
            <a:endParaRPr lang="en-US" altLang="ko-KR" sz="1600" dirty="0"/>
          </a:p>
          <a:p>
            <a:pPr>
              <a:buFontTx/>
              <a:buChar char="-"/>
            </a:pPr>
            <a:r>
              <a:rPr lang="ko-KR" altLang="en-US" sz="1600" dirty="0"/>
              <a:t>관망구조별 상이한 압력계</a:t>
            </a:r>
            <a:r>
              <a:rPr lang="en-US" altLang="ko-KR" sz="1600" dirty="0"/>
              <a:t>/</a:t>
            </a:r>
            <a:r>
              <a:rPr lang="ko-KR" altLang="en-US" sz="1600" dirty="0"/>
              <a:t>유량계의 위치</a:t>
            </a:r>
            <a:r>
              <a:rPr lang="en-US" altLang="ko-KR" sz="1600" dirty="0"/>
              <a:t>, </a:t>
            </a:r>
            <a:r>
              <a:rPr lang="ko-KR" altLang="en-US" sz="1600" dirty="0"/>
              <a:t>압력계</a:t>
            </a:r>
            <a:r>
              <a:rPr lang="en-US" altLang="ko-KR" sz="1600" dirty="0"/>
              <a:t>/</a:t>
            </a:r>
            <a:r>
              <a:rPr lang="ko-KR" altLang="en-US" sz="1600" dirty="0"/>
              <a:t>유량계의 개수</a:t>
            </a:r>
            <a:r>
              <a:rPr lang="en-US" altLang="ko-KR" sz="1600" dirty="0"/>
              <a:t>, </a:t>
            </a:r>
            <a:r>
              <a:rPr lang="ko-KR" altLang="en-US" sz="1600" dirty="0"/>
              <a:t>펌프의 개수 및 </a:t>
            </a:r>
            <a:r>
              <a:rPr lang="ko-KR" altLang="en-US" sz="1600" dirty="0" err="1"/>
              <a:t>유뮤</a:t>
            </a:r>
            <a:endParaRPr lang="en-US" altLang="ko-KR" sz="1600" dirty="0"/>
          </a:p>
          <a:p>
            <a:pPr>
              <a:buFontTx/>
              <a:buChar char="-"/>
            </a:pPr>
            <a:r>
              <a:rPr lang="ko-KR" altLang="en-US" sz="1600" dirty="0"/>
              <a:t>특정 관망구조에 유리하지 않은 범용적인 알고리즘 개발</a:t>
            </a:r>
            <a:endParaRPr lang="en-US" altLang="ko-KR" sz="1600" dirty="0"/>
          </a:p>
          <a:p>
            <a:pPr>
              <a:buFontTx/>
              <a:buChar char="-"/>
            </a:pPr>
            <a:r>
              <a:rPr lang="ko-KR" altLang="en-US" sz="1600" dirty="0"/>
              <a:t>이상 시점 평가 지표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자카드</a:t>
            </a:r>
            <a:r>
              <a:rPr lang="ko-KR" altLang="en-US" sz="1600" dirty="0"/>
              <a:t> 유사도</a:t>
            </a:r>
            <a:endParaRPr lang="en-US" altLang="ko-KR" sz="1600" dirty="0"/>
          </a:p>
          <a:p>
            <a:pPr>
              <a:buFontTx/>
              <a:buChar char="-"/>
            </a:pPr>
            <a:r>
              <a:rPr lang="ko-KR" altLang="en-US" sz="1600" dirty="0"/>
              <a:t>누수 발생 구간 평가 지표 </a:t>
            </a:r>
            <a:r>
              <a:rPr lang="en-US" altLang="ko-KR" sz="1600" dirty="0"/>
              <a:t>– </a:t>
            </a:r>
            <a:r>
              <a:rPr lang="ko-KR" altLang="en-US" sz="1600" dirty="0"/>
              <a:t>변형된 </a:t>
            </a:r>
            <a:r>
              <a:rPr lang="en-US" altLang="ko-KR" sz="1600" dirty="0"/>
              <a:t>F1 score</a:t>
            </a:r>
          </a:p>
          <a:p>
            <a:pPr marL="0" indent="0">
              <a:buNone/>
            </a:pPr>
            <a:r>
              <a:rPr lang="en-US" altLang="ko-KR" sz="1600" dirty="0"/>
              <a:t>(precision </a:t>
            </a:r>
            <a:r>
              <a:rPr lang="ko-KR" altLang="en-US" sz="1600" dirty="0"/>
              <a:t>분모에 </a:t>
            </a:r>
            <a:r>
              <a:rPr lang="en-US" altLang="ko-KR" sz="1600" dirty="0" err="1"/>
              <a:t>false_positives</a:t>
            </a:r>
            <a:r>
              <a:rPr lang="en-US" altLang="ko-KR" sz="1600" dirty="0"/>
              <a:t> </a:t>
            </a:r>
            <a:r>
              <a:rPr lang="ko-KR" altLang="en-US" sz="1600" dirty="0"/>
              <a:t>추가</a:t>
            </a:r>
            <a:r>
              <a:rPr lang="en-US" altLang="ko-KR" sz="1600" dirty="0"/>
              <a:t>)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0428AB-BF23-4832-8669-6C7EA51E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1" y="3577564"/>
            <a:ext cx="5054600" cy="2915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9E1DFE-3A26-4A41-A9D2-241F56172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44" y="4901304"/>
            <a:ext cx="4296390" cy="177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8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3A211-1D64-482C-99D0-08AEF95E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선정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0C422-A198-462F-9907-F94D1B99D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117" y="1462234"/>
            <a:ext cx="10854268" cy="5167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해당 공모전은 </a:t>
            </a:r>
            <a:r>
              <a:rPr lang="en-US" altLang="ko-KR" sz="2000" dirty="0"/>
              <a:t>DACON</a:t>
            </a:r>
            <a:r>
              <a:rPr lang="ko-KR" altLang="en-US" sz="2000" dirty="0"/>
              <a:t>에서 </a:t>
            </a:r>
            <a:r>
              <a:rPr lang="en-US" altLang="ko-KR" sz="2000" dirty="0"/>
              <a:t>2024</a:t>
            </a:r>
            <a:r>
              <a:rPr lang="ko-KR" altLang="en-US" sz="2000" dirty="0"/>
              <a:t>년에 진행된 대회임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hlinkClick r:id="rId2"/>
              </a:rPr>
              <a:t>(https://dacon.io/competitions/official/236423/overview/description</a:t>
            </a:r>
            <a:r>
              <a:rPr lang="en-US" altLang="ko-KR" sz="2000" dirty="0"/>
              <a:t> )</a:t>
            </a:r>
          </a:p>
          <a:p>
            <a:pPr marL="0" indent="0">
              <a:buNone/>
            </a:pPr>
            <a:r>
              <a:rPr lang="ko-KR" altLang="en-US" sz="1800" dirty="0"/>
              <a:t>장점</a:t>
            </a:r>
            <a:r>
              <a:rPr lang="en-US" altLang="ko-KR" sz="1800" dirty="0"/>
              <a:t>:</a:t>
            </a:r>
          </a:p>
          <a:p>
            <a:pPr marL="514350" indent="-514350">
              <a:buAutoNum type="arabicPeriod"/>
            </a:pPr>
            <a:r>
              <a:rPr lang="ko-KR" altLang="en-US" sz="1800" dirty="0"/>
              <a:t>제공되는 데이터만을 사용해야 하기 때문에 추가적인 데이터 확보 </a:t>
            </a:r>
            <a:r>
              <a:rPr lang="en-US" altLang="ko-KR" sz="1800" dirty="0"/>
              <a:t>X</a:t>
            </a:r>
          </a:p>
          <a:p>
            <a:pPr marL="514350" indent="-514350">
              <a:buAutoNum type="arabicPeriod"/>
            </a:pPr>
            <a:r>
              <a:rPr lang="ko-KR" altLang="en-US" sz="1800" dirty="0"/>
              <a:t>정형데이터를 제공하여 데이터 확인 및 가공으로 인한 오류 및 시간 투자 </a:t>
            </a:r>
            <a:r>
              <a:rPr lang="en-US" altLang="ko-KR" sz="1800" dirty="0"/>
              <a:t>X</a:t>
            </a:r>
          </a:p>
          <a:p>
            <a:pPr marL="514350" indent="-514350">
              <a:buAutoNum type="arabicPeriod"/>
            </a:pPr>
            <a:r>
              <a:rPr lang="en-US" altLang="ko-KR" sz="1800" dirty="0"/>
              <a:t>2, 3, 4</a:t>
            </a:r>
            <a:r>
              <a:rPr lang="ko-KR" altLang="en-US" sz="1800" dirty="0"/>
              <a:t>등의 코드가 제시되어 있으며 그 외의 코드도 제시되어 있음</a:t>
            </a:r>
            <a:r>
              <a:rPr lang="en-US" altLang="ko-KR" sz="1800" dirty="0"/>
              <a:t>(</a:t>
            </a:r>
            <a:r>
              <a:rPr lang="ko-KR" altLang="en-US" sz="1800" dirty="0"/>
              <a:t>총 </a:t>
            </a:r>
            <a:r>
              <a:rPr lang="en-US" altLang="ko-KR" sz="1800" dirty="0"/>
              <a:t>7</a:t>
            </a:r>
            <a:r>
              <a:rPr lang="ko-KR" altLang="en-US" sz="1800" dirty="0"/>
              <a:t>개의 각기 다른 코드</a:t>
            </a:r>
            <a:r>
              <a:rPr lang="en-US" altLang="ko-KR" sz="1800" dirty="0"/>
              <a:t>)</a:t>
            </a:r>
          </a:p>
          <a:p>
            <a:pPr marL="514350" indent="-514350">
              <a:buAutoNum type="arabicPeriod"/>
            </a:pPr>
            <a:r>
              <a:rPr lang="ko-KR" altLang="en-US" sz="1800" dirty="0"/>
              <a:t>수상작 뿐만 아니라 코드 공유란의 다른 코드를 선택하여 개선가능</a:t>
            </a:r>
            <a:r>
              <a:rPr lang="en-US" altLang="ko-KR" sz="1800" dirty="0"/>
              <a:t>(</a:t>
            </a:r>
            <a:r>
              <a:rPr lang="ko-KR" altLang="en-US" sz="1800" dirty="0"/>
              <a:t>교수님께 사전에 물어봄</a:t>
            </a:r>
            <a:r>
              <a:rPr lang="en-US" altLang="ko-KR" sz="1800" dirty="0"/>
              <a:t>)</a:t>
            </a:r>
          </a:p>
          <a:p>
            <a:pPr marL="514350" indent="-514350">
              <a:buAutoNum type="arabicPeriod"/>
            </a:pPr>
            <a:r>
              <a:rPr lang="ko-KR" altLang="en-US" sz="1800" dirty="0"/>
              <a:t>시계열 데이터 와 이상탐지로 친숙한 데이터와 방법이며 베이스라인 코드를 제공하기 때문에 기초적인 코드를 공부하는데 도움이 된다고 생각함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단점</a:t>
            </a:r>
            <a:r>
              <a:rPr lang="en-US" altLang="ko-KR" sz="1800" dirty="0"/>
              <a:t>:</a:t>
            </a:r>
          </a:p>
          <a:p>
            <a:pPr marL="514350" indent="-514350">
              <a:buAutoNum type="arabicPeriod"/>
            </a:pPr>
            <a:r>
              <a:rPr lang="ko-KR" altLang="en-US" sz="1800" dirty="0"/>
              <a:t>코드가 기존 공모전보다 복잡하고 제안할 점이 찾기 어려운 경향이 있음</a:t>
            </a:r>
            <a:endParaRPr lang="en-US" altLang="ko-KR" sz="1800" dirty="0"/>
          </a:p>
          <a:p>
            <a:pPr marL="514350" indent="-514350">
              <a:buAutoNum type="arabicPeriod"/>
            </a:pPr>
            <a:r>
              <a:rPr lang="ko-KR" altLang="en-US" sz="1800" dirty="0"/>
              <a:t>해당 내용의 도메인지식을 공부할 필요가 있음</a:t>
            </a:r>
            <a:endParaRPr lang="en-US" altLang="ko-KR" sz="1800" dirty="0"/>
          </a:p>
          <a:p>
            <a:pPr marL="514350" indent="-514350">
              <a:buAutoNum type="arabicPeriod"/>
            </a:pPr>
            <a:r>
              <a:rPr lang="ko-KR" altLang="en-US" sz="1800" dirty="0"/>
              <a:t>다른 공모전 수상작보다 많은 시간을 투자해야 함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61431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35F00-7FFA-442B-998D-01E04C31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667E10-54AA-4F54-AFCC-A0A2E7023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43401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ko-KR" sz="1000" b="1" dirty="0">
                <a:solidFill>
                  <a:srgbClr val="92D050"/>
                </a:solidFill>
                <a:effectLst/>
              </a:rPr>
              <a:t>train [</a:t>
            </a:r>
            <a:r>
              <a:rPr lang="ko-KR" altLang="en-US" sz="1000" b="1" dirty="0">
                <a:solidFill>
                  <a:srgbClr val="92D050"/>
                </a:solidFill>
                <a:effectLst/>
              </a:rPr>
              <a:t>폴더</a:t>
            </a:r>
            <a:r>
              <a:rPr lang="en-US" altLang="ko-KR" sz="1000" b="1" dirty="0">
                <a:solidFill>
                  <a:srgbClr val="92D050"/>
                </a:solidFill>
                <a:effectLst/>
              </a:rPr>
              <a:t>]: </a:t>
            </a:r>
            <a:r>
              <a:rPr lang="ko-KR" altLang="en-US" sz="1000" b="1" dirty="0">
                <a:solidFill>
                  <a:srgbClr val="92D050"/>
                </a:solidFill>
                <a:effectLst/>
              </a:rPr>
              <a:t>관망 구조 별 학습 데이터 샘플</a:t>
            </a:r>
            <a:endParaRPr lang="ko-KR" altLang="en-US" sz="1000" dirty="0">
              <a:solidFill>
                <a:srgbClr val="92D050"/>
              </a:solidFill>
              <a:effectLst/>
            </a:endParaRPr>
          </a:p>
          <a:p>
            <a:r>
              <a:rPr lang="en-US" altLang="ko-KR" sz="1000" dirty="0">
                <a:effectLst/>
              </a:rPr>
              <a:t>TRAIN_A.csv [</a:t>
            </a:r>
            <a:r>
              <a:rPr lang="ko-KR" altLang="en-US" sz="1000" dirty="0">
                <a:effectLst/>
              </a:rPr>
              <a:t>파일</a:t>
            </a:r>
            <a:r>
              <a:rPr lang="en-US" altLang="ko-KR" sz="1000" dirty="0">
                <a:effectLst/>
              </a:rPr>
              <a:t>]: A </a:t>
            </a:r>
            <a:r>
              <a:rPr lang="ko-KR" altLang="en-US" sz="1000" dirty="0">
                <a:effectLst/>
              </a:rPr>
              <a:t>관망 구조의 분 단위 데이터 </a:t>
            </a:r>
            <a:r>
              <a:rPr lang="en-US" altLang="ko-KR" sz="1000" dirty="0">
                <a:effectLst/>
              </a:rPr>
              <a:t>(24/05/27 00:00 ~ 24/06/26 15:00) , </a:t>
            </a:r>
          </a:p>
          <a:p>
            <a:r>
              <a:rPr lang="en-US" altLang="ko-KR" sz="1000" dirty="0">
                <a:effectLst/>
              </a:rPr>
              <a:t>TRAIN_B.csv [</a:t>
            </a:r>
            <a:r>
              <a:rPr lang="ko-KR" altLang="en-US" sz="1000" dirty="0">
                <a:effectLst/>
              </a:rPr>
              <a:t>파일</a:t>
            </a:r>
            <a:r>
              <a:rPr lang="en-US" altLang="ko-KR" sz="1000" dirty="0">
                <a:effectLst/>
              </a:rPr>
              <a:t>]: B </a:t>
            </a:r>
            <a:r>
              <a:rPr lang="ko-KR" altLang="en-US" sz="1000" dirty="0">
                <a:effectLst/>
              </a:rPr>
              <a:t>관망 구조의 분 단위 데이터 </a:t>
            </a:r>
            <a:r>
              <a:rPr lang="en-US" altLang="ko-KR" sz="1000" dirty="0">
                <a:effectLst/>
              </a:rPr>
              <a:t>(24/07/01 00:00 ~ 24/07/29 23:59)</a:t>
            </a:r>
            <a:br>
              <a:rPr lang="ko-KR" altLang="en-US" sz="1000" dirty="0">
                <a:effectLst/>
              </a:rPr>
            </a:br>
            <a:endParaRPr lang="ko-KR" altLang="en-US" sz="1000" dirty="0">
              <a:effectLst/>
            </a:endParaRPr>
          </a:p>
          <a:p>
            <a:r>
              <a:rPr lang="en-US" altLang="ko-KR" sz="1000" b="1" dirty="0">
                <a:solidFill>
                  <a:srgbClr val="FFC000"/>
                </a:solidFill>
                <a:effectLst/>
              </a:rPr>
              <a:t>test [</a:t>
            </a:r>
            <a:r>
              <a:rPr lang="ko-KR" altLang="en-US" sz="1000" b="1" dirty="0">
                <a:solidFill>
                  <a:srgbClr val="FFC000"/>
                </a:solidFill>
                <a:effectLst/>
              </a:rPr>
              <a:t>폴더</a:t>
            </a:r>
            <a:r>
              <a:rPr lang="en-US" altLang="ko-KR" sz="1000" b="1" dirty="0">
                <a:solidFill>
                  <a:srgbClr val="FFC000"/>
                </a:solidFill>
                <a:effectLst/>
              </a:rPr>
              <a:t>]: </a:t>
            </a:r>
            <a:r>
              <a:rPr lang="ko-KR" altLang="en-US" sz="1000" b="1" dirty="0">
                <a:solidFill>
                  <a:srgbClr val="FFC000"/>
                </a:solidFill>
                <a:effectLst/>
              </a:rPr>
              <a:t>예측 현재 시점 </a:t>
            </a:r>
            <a:r>
              <a:rPr lang="en-US" altLang="ko-KR" sz="1000" b="1" dirty="0">
                <a:solidFill>
                  <a:srgbClr val="FFC000"/>
                </a:solidFill>
                <a:effectLst/>
              </a:rPr>
              <a:t>T</a:t>
            </a:r>
            <a:r>
              <a:rPr lang="ko-KR" altLang="en-US" sz="1000" b="1" dirty="0">
                <a:solidFill>
                  <a:srgbClr val="FFC000"/>
                </a:solidFill>
                <a:effectLst/>
              </a:rPr>
              <a:t>를 포함한 최대 일주일</a:t>
            </a:r>
            <a:r>
              <a:rPr lang="en-US" altLang="ko-KR" sz="1000" b="1" dirty="0">
                <a:solidFill>
                  <a:srgbClr val="FFC000"/>
                </a:solidFill>
                <a:effectLst/>
              </a:rPr>
              <a:t>(Lookback </a:t>
            </a:r>
            <a:r>
              <a:rPr lang="ko-KR" altLang="en-US" sz="1000" b="1" dirty="0">
                <a:solidFill>
                  <a:srgbClr val="FFC000"/>
                </a:solidFill>
                <a:effectLst/>
              </a:rPr>
              <a:t>기간</a:t>
            </a:r>
            <a:r>
              <a:rPr lang="en-US" altLang="ko-KR" sz="1000" b="1" dirty="0">
                <a:solidFill>
                  <a:srgbClr val="FFC000"/>
                </a:solidFill>
                <a:effectLst/>
              </a:rPr>
              <a:t>)</a:t>
            </a:r>
            <a:r>
              <a:rPr lang="ko-KR" altLang="en-US" sz="1000" b="1" dirty="0">
                <a:solidFill>
                  <a:srgbClr val="FFC000"/>
                </a:solidFill>
                <a:effectLst/>
              </a:rPr>
              <a:t>에 대한 평가 데이터 샘플</a:t>
            </a:r>
            <a:endParaRPr lang="ko-KR" altLang="en-US" sz="1000" dirty="0">
              <a:solidFill>
                <a:srgbClr val="FFC000"/>
              </a:solidFill>
              <a:effectLst/>
            </a:endParaRPr>
          </a:p>
          <a:p>
            <a:r>
              <a:rPr lang="en-US" altLang="ko-KR" sz="1000" dirty="0">
                <a:effectLst/>
              </a:rPr>
              <a:t>C [</a:t>
            </a:r>
            <a:r>
              <a:rPr lang="ko-KR" altLang="en-US" sz="1000" dirty="0">
                <a:effectLst/>
              </a:rPr>
              <a:t>폴더</a:t>
            </a:r>
            <a:r>
              <a:rPr lang="en-US" altLang="ko-KR" sz="1000" dirty="0">
                <a:effectLst/>
              </a:rPr>
              <a:t>]: C </a:t>
            </a:r>
            <a:r>
              <a:rPr lang="ko-KR" altLang="en-US" sz="1000" dirty="0">
                <a:effectLst/>
              </a:rPr>
              <a:t>관망 구조의 현재 예측 시점 </a:t>
            </a:r>
            <a:r>
              <a:rPr lang="en-US" altLang="ko-KR" sz="1000" dirty="0">
                <a:effectLst/>
              </a:rPr>
              <a:t>T</a:t>
            </a:r>
            <a:r>
              <a:rPr lang="ko-KR" altLang="en-US" sz="1000" dirty="0">
                <a:effectLst/>
              </a:rPr>
              <a:t>로 구성된 </a:t>
            </a:r>
            <a:r>
              <a:rPr lang="en-US" altLang="ko-KR" sz="1000" dirty="0">
                <a:effectLst/>
              </a:rPr>
              <a:t>TEST_C_0000.csv ~ TEST_C_2919.csv</a:t>
            </a:r>
            <a:r>
              <a:rPr lang="ko-KR" altLang="en-US" sz="1000" dirty="0">
                <a:effectLst/>
              </a:rPr>
              <a:t>의 추론용 평가 데이터 샘플</a:t>
            </a:r>
            <a:endParaRPr lang="en-US" altLang="ko-KR" sz="1000" dirty="0"/>
          </a:p>
          <a:p>
            <a:r>
              <a:rPr lang="en-US" altLang="ko-KR" sz="1000" dirty="0">
                <a:effectLst/>
              </a:rPr>
              <a:t>D [</a:t>
            </a:r>
            <a:r>
              <a:rPr lang="ko-KR" altLang="en-US" sz="1000" dirty="0">
                <a:effectLst/>
              </a:rPr>
              <a:t>폴더</a:t>
            </a:r>
            <a:r>
              <a:rPr lang="en-US" altLang="ko-KR" sz="1000" dirty="0">
                <a:effectLst/>
              </a:rPr>
              <a:t>]: D </a:t>
            </a:r>
            <a:r>
              <a:rPr lang="ko-KR" altLang="en-US" sz="1000" dirty="0">
                <a:effectLst/>
              </a:rPr>
              <a:t>관망 구조의 현재 예측 시점 </a:t>
            </a:r>
            <a:r>
              <a:rPr lang="en-US" altLang="ko-KR" sz="1000" dirty="0">
                <a:effectLst/>
              </a:rPr>
              <a:t>T</a:t>
            </a:r>
            <a:r>
              <a:rPr lang="ko-KR" altLang="en-US" sz="1000" dirty="0">
                <a:effectLst/>
              </a:rPr>
              <a:t>로 구성된 </a:t>
            </a:r>
            <a:r>
              <a:rPr lang="en-US" altLang="ko-KR" sz="1000" dirty="0">
                <a:effectLst/>
              </a:rPr>
              <a:t>TEST_D_0000.csv ~ TEST_D_2737.csv</a:t>
            </a:r>
            <a:r>
              <a:rPr lang="ko-KR" altLang="en-US" sz="1000" dirty="0">
                <a:effectLst/>
              </a:rPr>
              <a:t>의 추론용 평가 데이터 샘플</a:t>
            </a:r>
          </a:p>
          <a:p>
            <a:pPr marL="0" indent="0">
              <a:buNone/>
            </a:pPr>
            <a:endParaRPr lang="ko-KR" altLang="en-US" sz="1000" dirty="0">
              <a:effectLst/>
            </a:endParaRPr>
          </a:p>
          <a:p>
            <a:r>
              <a:rPr lang="en-US" altLang="ko-KR" sz="1000" b="1" dirty="0">
                <a:effectLst/>
              </a:rPr>
              <a:t>meta_</a:t>
            </a:r>
            <a:r>
              <a:rPr lang="ko-KR" altLang="en-US" sz="1000" b="1" dirty="0" err="1">
                <a:effectLst/>
              </a:rPr>
              <a:t>관망구조이미지</a:t>
            </a:r>
            <a:r>
              <a:rPr lang="ko-KR" altLang="en-US" sz="1000" b="1" dirty="0">
                <a:effectLst/>
              </a:rPr>
              <a:t> </a:t>
            </a:r>
            <a:r>
              <a:rPr lang="en-US" altLang="ko-KR" sz="1000" b="1" dirty="0">
                <a:effectLst/>
              </a:rPr>
              <a:t>[</a:t>
            </a:r>
            <a:r>
              <a:rPr lang="ko-KR" altLang="en-US" sz="1000" b="1" dirty="0">
                <a:effectLst/>
              </a:rPr>
              <a:t>폴더</a:t>
            </a:r>
            <a:r>
              <a:rPr lang="en-US" altLang="ko-KR" sz="1000" b="1" dirty="0">
                <a:effectLst/>
              </a:rPr>
              <a:t>]</a:t>
            </a:r>
            <a:endParaRPr lang="ko-KR" altLang="en-US" sz="1000" dirty="0">
              <a:effectLst/>
            </a:endParaRPr>
          </a:p>
          <a:p>
            <a:r>
              <a:rPr lang="en-US" altLang="ko-KR" sz="1000" dirty="0">
                <a:effectLst/>
              </a:rPr>
              <a:t>train [</a:t>
            </a:r>
            <a:r>
              <a:rPr lang="ko-KR" altLang="en-US" sz="1000" dirty="0">
                <a:effectLst/>
              </a:rPr>
              <a:t>폴더</a:t>
            </a:r>
            <a:r>
              <a:rPr lang="en-US" altLang="ko-KR" sz="1000" dirty="0">
                <a:effectLst/>
              </a:rPr>
              <a:t>]: A, B </a:t>
            </a:r>
            <a:r>
              <a:rPr lang="ko-KR" altLang="en-US" sz="1000" dirty="0">
                <a:effectLst/>
              </a:rPr>
              <a:t>관망 구조 이미지 </a:t>
            </a:r>
            <a:r>
              <a:rPr lang="en-US" altLang="ko-KR" sz="1000" dirty="0">
                <a:effectLst/>
              </a:rPr>
              <a:t>/ test [</a:t>
            </a:r>
            <a:r>
              <a:rPr lang="ko-KR" altLang="en-US" sz="1000" dirty="0">
                <a:effectLst/>
              </a:rPr>
              <a:t>폴더</a:t>
            </a:r>
            <a:r>
              <a:rPr lang="en-US" altLang="ko-KR" sz="1000" dirty="0">
                <a:effectLst/>
              </a:rPr>
              <a:t>]: C, D </a:t>
            </a:r>
            <a:r>
              <a:rPr lang="ko-KR" altLang="en-US" sz="1000" dirty="0">
                <a:effectLst/>
              </a:rPr>
              <a:t>관망 구조 이미지</a:t>
            </a:r>
          </a:p>
          <a:p>
            <a:pPr marL="0" indent="0">
              <a:buNone/>
            </a:pPr>
            <a:endParaRPr lang="ko-KR" altLang="en-US" sz="1000" dirty="0">
              <a:effectLst/>
            </a:endParaRPr>
          </a:p>
          <a:p>
            <a:r>
              <a:rPr lang="en-US" altLang="ko-KR" sz="1000" b="1" dirty="0">
                <a:effectLst/>
              </a:rPr>
              <a:t>test.csv [</a:t>
            </a:r>
            <a:r>
              <a:rPr lang="ko-KR" altLang="en-US" sz="1000" b="1" dirty="0">
                <a:effectLst/>
              </a:rPr>
              <a:t>파일</a:t>
            </a:r>
            <a:r>
              <a:rPr lang="en-US" altLang="ko-KR" sz="1000" b="1" dirty="0">
                <a:effectLst/>
              </a:rPr>
              <a:t>]</a:t>
            </a:r>
            <a:endParaRPr lang="ko-KR" altLang="en-US" sz="1000" dirty="0">
              <a:effectLst/>
            </a:endParaRPr>
          </a:p>
          <a:p>
            <a:r>
              <a:rPr lang="en-US" altLang="ko-KR" sz="1000" dirty="0">
                <a:effectLst/>
              </a:rPr>
              <a:t>ID : </a:t>
            </a:r>
            <a:r>
              <a:rPr lang="ko-KR" altLang="en-US" sz="1000" dirty="0">
                <a:effectLst/>
              </a:rPr>
              <a:t>평가 데이터 샘플 식별 </a:t>
            </a:r>
            <a:r>
              <a:rPr lang="en-US" altLang="ko-KR" sz="1000" dirty="0">
                <a:effectLst/>
              </a:rPr>
              <a:t>ID / path : </a:t>
            </a:r>
            <a:r>
              <a:rPr lang="ko-KR" altLang="en-US" sz="1000" dirty="0">
                <a:effectLst/>
              </a:rPr>
              <a:t>평가 데이터 샘플 경로</a:t>
            </a:r>
          </a:p>
          <a:p>
            <a:br>
              <a:rPr lang="ko-KR" altLang="en-US" sz="1000" dirty="0">
                <a:effectLst/>
              </a:rPr>
            </a:br>
            <a:endParaRPr lang="ko-KR" altLang="en-US" sz="1000" dirty="0">
              <a:effectLst/>
            </a:endParaRPr>
          </a:p>
          <a:p>
            <a:r>
              <a:rPr lang="en-US" altLang="ko-KR" sz="1000" b="1" dirty="0">
                <a:effectLst/>
              </a:rPr>
              <a:t>sample_submission.csv [</a:t>
            </a:r>
            <a:r>
              <a:rPr lang="ko-KR" altLang="en-US" sz="1000" b="1" dirty="0">
                <a:effectLst/>
              </a:rPr>
              <a:t>제출 양식</a:t>
            </a:r>
            <a:r>
              <a:rPr lang="en-US" altLang="ko-KR" sz="1000" b="1" dirty="0">
                <a:effectLst/>
              </a:rPr>
              <a:t>]</a:t>
            </a:r>
            <a:endParaRPr lang="ko-KR" altLang="en-US" sz="1000" dirty="0">
              <a:effectLst/>
            </a:endParaRPr>
          </a:p>
          <a:p>
            <a:r>
              <a:rPr lang="en-US" altLang="ko-KR" sz="1000" dirty="0">
                <a:effectLst/>
              </a:rPr>
              <a:t>ID : </a:t>
            </a:r>
            <a:r>
              <a:rPr lang="ko-KR" altLang="en-US" sz="1000" dirty="0">
                <a:effectLst/>
              </a:rPr>
              <a:t>평가 데이터 샘플 식별 </a:t>
            </a:r>
            <a:r>
              <a:rPr lang="en-US" altLang="ko-KR" sz="1000" dirty="0">
                <a:effectLst/>
              </a:rPr>
              <a:t>ID</a:t>
            </a:r>
          </a:p>
          <a:p>
            <a:r>
              <a:rPr lang="en-US" altLang="ko-KR" sz="1000" dirty="0" err="1">
                <a:effectLst/>
              </a:rPr>
              <a:t>flag_list</a:t>
            </a:r>
            <a:r>
              <a:rPr lang="en-US" altLang="ko-KR" sz="1000" dirty="0">
                <a:effectLst/>
              </a:rPr>
              <a:t> : T+1</a:t>
            </a:r>
            <a:r>
              <a:rPr lang="ko-KR" altLang="en-US" sz="1000" dirty="0">
                <a:effectLst/>
              </a:rPr>
              <a:t>분 시점에 대해 예측한 각 압력계 별 정상</a:t>
            </a:r>
            <a:r>
              <a:rPr lang="en-US" altLang="ko-KR" sz="1000" dirty="0">
                <a:effectLst/>
              </a:rPr>
              <a:t>(0), </a:t>
            </a:r>
            <a:r>
              <a:rPr lang="ko-KR" altLang="en-US" sz="1000" dirty="0">
                <a:effectLst/>
              </a:rPr>
              <a:t>이상</a:t>
            </a:r>
            <a:r>
              <a:rPr lang="en-US" altLang="ko-KR" sz="1000" dirty="0">
                <a:effectLst/>
              </a:rPr>
              <a:t>(1) </a:t>
            </a:r>
            <a:r>
              <a:rPr lang="ko-KR" altLang="en-US" sz="1000" dirty="0">
                <a:effectLst/>
              </a:rPr>
              <a:t>여부</a:t>
            </a:r>
          </a:p>
          <a:p>
            <a:r>
              <a:rPr lang="ko-KR" altLang="en-US" sz="1000" dirty="0">
                <a:effectLst/>
              </a:rPr>
              <a:t>관망 구조 별 압력계 개수가 가변적이므로 반드시 </a:t>
            </a:r>
            <a:r>
              <a:rPr lang="en-US" altLang="ko-KR" sz="1000" dirty="0">
                <a:effectLst/>
              </a:rPr>
              <a:t>'LIST' </a:t>
            </a:r>
            <a:r>
              <a:rPr lang="ko-KR" altLang="en-US" sz="1000" dirty="0">
                <a:effectLst/>
              </a:rPr>
              <a:t>형태로 된 각 압력계 별 예측한 정상</a:t>
            </a:r>
            <a:r>
              <a:rPr lang="en-US" altLang="ko-KR" sz="1000" dirty="0">
                <a:effectLst/>
              </a:rPr>
              <a:t>(0), </a:t>
            </a:r>
            <a:r>
              <a:rPr lang="ko-KR" altLang="en-US" sz="1000" dirty="0">
                <a:effectLst/>
              </a:rPr>
              <a:t>이상</a:t>
            </a:r>
            <a:r>
              <a:rPr lang="en-US" altLang="ko-KR" sz="1000" dirty="0">
                <a:effectLst/>
              </a:rPr>
              <a:t>(1) </a:t>
            </a:r>
            <a:r>
              <a:rPr lang="ko-KR" altLang="en-US" sz="1000" dirty="0">
                <a:effectLst/>
              </a:rPr>
              <a:t>여부를 </a:t>
            </a:r>
            <a:r>
              <a:rPr lang="ko-KR" altLang="en-US" sz="1000" dirty="0" err="1">
                <a:effectLst/>
              </a:rPr>
              <a:t>기입해야합니다</a:t>
            </a:r>
            <a:r>
              <a:rPr lang="en-US" altLang="ko-KR" sz="1000" dirty="0">
                <a:effectLst/>
              </a:rPr>
              <a:t>.</a:t>
            </a:r>
          </a:p>
          <a:p>
            <a:r>
              <a:rPr lang="en-US" altLang="ko-KR" sz="1000" b="1" dirty="0"/>
              <a:t>[</a:t>
            </a:r>
            <a:r>
              <a:rPr lang="ko-KR" altLang="en-US" sz="1000" b="1" dirty="0"/>
              <a:t>주의</a:t>
            </a:r>
            <a:r>
              <a:rPr lang="en-US" altLang="ko-KR" sz="1000" b="1" dirty="0"/>
              <a:t>]</a:t>
            </a:r>
            <a:r>
              <a:rPr lang="ko-KR" altLang="en-US" sz="1000" dirty="0">
                <a:effectLst/>
              </a:rPr>
              <a:t> </a:t>
            </a:r>
            <a:r>
              <a:rPr lang="en-US" altLang="ko-KR" sz="1000" dirty="0">
                <a:effectLst/>
              </a:rPr>
              <a:t>LIST </a:t>
            </a:r>
            <a:r>
              <a:rPr lang="ko-KR" altLang="en-US" sz="1000" dirty="0">
                <a:effectLst/>
              </a:rPr>
              <a:t>형태의 예시 </a:t>
            </a:r>
            <a:r>
              <a:rPr lang="en-US" altLang="ko-KR" sz="1000" dirty="0">
                <a:effectLst/>
              </a:rPr>
              <a:t>-&gt; </a:t>
            </a:r>
            <a:r>
              <a:rPr lang="ko-KR" altLang="en-US" sz="1000" dirty="0">
                <a:effectLst/>
              </a:rPr>
              <a:t>관망 구조 내 압력계가 </a:t>
            </a:r>
            <a:r>
              <a:rPr lang="en-US" altLang="ko-KR" sz="1000" dirty="0">
                <a:effectLst/>
              </a:rPr>
              <a:t>5</a:t>
            </a:r>
            <a:r>
              <a:rPr lang="ko-KR" altLang="en-US" sz="1000" dirty="0">
                <a:effectLst/>
              </a:rPr>
              <a:t>개라면 </a:t>
            </a:r>
            <a:r>
              <a:rPr lang="en-US" altLang="ko-KR" sz="1000" dirty="0">
                <a:effectLst/>
              </a:rPr>
              <a:t>[0, 0, 0, 0, 0] </a:t>
            </a:r>
            <a:r>
              <a:rPr lang="ko-KR" altLang="en-US" sz="1000" dirty="0">
                <a:effectLst/>
              </a:rPr>
              <a:t>와 같이 기입</a:t>
            </a:r>
            <a:r>
              <a:rPr lang="en-US" altLang="ko-KR" sz="1000" dirty="0">
                <a:effectLst/>
              </a:rPr>
              <a:t>, ['0', '0', '0', '0', '0'] </a:t>
            </a:r>
            <a:r>
              <a:rPr lang="ko-KR" altLang="en-US" sz="1000" dirty="0">
                <a:effectLst/>
              </a:rPr>
              <a:t>이나 </a:t>
            </a:r>
            <a:r>
              <a:rPr lang="en-US" altLang="ko-KR" sz="1000" dirty="0">
                <a:effectLst/>
              </a:rPr>
              <a:t>[0 0 0 0 0]</a:t>
            </a:r>
            <a:r>
              <a:rPr lang="ko-KR" altLang="en-US" sz="1000" dirty="0">
                <a:effectLst/>
              </a:rPr>
              <a:t>으로 기입하는 경우 정확한 채점 불가능</a:t>
            </a:r>
          </a:p>
          <a:p>
            <a:pPr marL="0" indent="0">
              <a:buNone/>
            </a:pPr>
            <a:br>
              <a:rPr lang="ko-KR" altLang="en-US" sz="1000" dirty="0">
                <a:effectLst/>
              </a:rPr>
            </a:br>
            <a:endParaRPr lang="ko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99CF0-0BF3-4584-A8BC-8911DE38588B}"/>
              </a:ext>
            </a:extLst>
          </p:cNvPr>
          <p:cNvSpPr txBox="1"/>
          <p:nvPr/>
        </p:nvSpPr>
        <p:spPr>
          <a:xfrm>
            <a:off x="6219600" y="582603"/>
            <a:ext cx="4589718" cy="138499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effectLst/>
              </a:rPr>
              <a:t>timestamp: </a:t>
            </a:r>
            <a:r>
              <a:rPr lang="ko-KR" altLang="en-US" sz="1400" dirty="0">
                <a:effectLst/>
              </a:rPr>
              <a:t>분 단위 시점</a:t>
            </a:r>
          </a:p>
          <a:p>
            <a:r>
              <a:rPr lang="en-US" altLang="ko-KR" sz="1400" dirty="0">
                <a:effectLst/>
              </a:rPr>
              <a:t>Q: </a:t>
            </a:r>
            <a:r>
              <a:rPr lang="ko-KR" altLang="en-US" sz="1400" dirty="0">
                <a:effectLst/>
              </a:rPr>
              <a:t>유량</a:t>
            </a:r>
          </a:p>
          <a:p>
            <a:r>
              <a:rPr lang="en-US" altLang="ko-KR" sz="1400" dirty="0">
                <a:effectLst/>
              </a:rPr>
              <a:t>M: </a:t>
            </a:r>
            <a:r>
              <a:rPr lang="ko-KR" altLang="en-US" sz="1400" dirty="0">
                <a:effectLst/>
              </a:rPr>
              <a:t>펌프가동정보 </a:t>
            </a:r>
            <a:r>
              <a:rPr lang="en-US" altLang="ko-KR" sz="1400" dirty="0">
                <a:effectLst/>
              </a:rPr>
              <a:t>(On=1, Off=0)</a:t>
            </a:r>
          </a:p>
          <a:p>
            <a:r>
              <a:rPr lang="en-US" altLang="ko-KR" sz="1400" dirty="0">
                <a:effectLst/>
              </a:rPr>
              <a:t>P: </a:t>
            </a:r>
            <a:r>
              <a:rPr lang="ko-KR" altLang="en-US" sz="1400" dirty="0">
                <a:effectLst/>
              </a:rPr>
              <a:t>압력</a:t>
            </a:r>
          </a:p>
          <a:p>
            <a:r>
              <a:rPr lang="en-US" altLang="ko-KR" sz="1400" dirty="0">
                <a:effectLst/>
              </a:rPr>
              <a:t>anomaly: </a:t>
            </a:r>
            <a:r>
              <a:rPr lang="ko-KR" altLang="en-US" sz="1400" dirty="0">
                <a:effectLst/>
              </a:rPr>
              <a:t>해당 시점에서의 정상</a:t>
            </a:r>
            <a:r>
              <a:rPr lang="en-US" altLang="ko-KR" sz="1400" dirty="0">
                <a:effectLst/>
              </a:rPr>
              <a:t>(0), </a:t>
            </a:r>
            <a:r>
              <a:rPr lang="ko-KR" altLang="en-US" sz="1400" dirty="0">
                <a:effectLst/>
              </a:rPr>
              <a:t>이상</a:t>
            </a:r>
            <a:r>
              <a:rPr lang="en-US" altLang="ko-KR" sz="1400" dirty="0">
                <a:effectLst/>
              </a:rPr>
              <a:t>(1) </a:t>
            </a:r>
            <a:r>
              <a:rPr lang="ko-KR" altLang="en-US" sz="1400" dirty="0">
                <a:effectLst/>
              </a:rPr>
              <a:t>여부</a:t>
            </a:r>
          </a:p>
          <a:p>
            <a:r>
              <a:rPr lang="en-US" altLang="ko-KR" sz="1400" dirty="0" err="1">
                <a:effectLst/>
              </a:rPr>
              <a:t>P_flag</a:t>
            </a:r>
            <a:r>
              <a:rPr lang="en-US" altLang="ko-KR" sz="1400" dirty="0">
                <a:effectLst/>
              </a:rPr>
              <a:t>: </a:t>
            </a:r>
            <a:r>
              <a:rPr lang="ko-KR" altLang="en-US" sz="1400" dirty="0">
                <a:effectLst/>
              </a:rPr>
              <a:t>해당 시점에서의 압력계의 정상</a:t>
            </a:r>
            <a:r>
              <a:rPr lang="en-US" altLang="ko-KR" sz="1400" dirty="0">
                <a:effectLst/>
              </a:rPr>
              <a:t>(0), </a:t>
            </a:r>
            <a:r>
              <a:rPr lang="ko-KR" altLang="en-US" sz="1400" dirty="0">
                <a:effectLst/>
              </a:rPr>
              <a:t>이상</a:t>
            </a:r>
            <a:r>
              <a:rPr lang="en-US" altLang="ko-KR" sz="1400" dirty="0">
                <a:effectLst/>
              </a:rPr>
              <a:t>(1) </a:t>
            </a:r>
            <a:r>
              <a:rPr lang="ko-KR" altLang="en-US" sz="1400" dirty="0">
                <a:effectLst/>
              </a:rPr>
              <a:t>여부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DF1E7-9FAA-4258-9BF1-3379ED0F41D4}"/>
              </a:ext>
            </a:extLst>
          </p:cNvPr>
          <p:cNvSpPr txBox="1"/>
          <p:nvPr/>
        </p:nvSpPr>
        <p:spPr>
          <a:xfrm>
            <a:off x="7827264" y="2453465"/>
            <a:ext cx="3877056" cy="830997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effectLst/>
              </a:rPr>
              <a:t>timestamp: </a:t>
            </a:r>
            <a:r>
              <a:rPr lang="ko-KR" altLang="en-US" sz="1200" dirty="0">
                <a:effectLst/>
              </a:rPr>
              <a:t>현재 시점 </a:t>
            </a:r>
            <a:r>
              <a:rPr lang="en-US" altLang="ko-KR" sz="1200" dirty="0">
                <a:effectLst/>
              </a:rPr>
              <a:t>T</a:t>
            </a:r>
            <a:r>
              <a:rPr lang="ko-KR" altLang="en-US" sz="1200" dirty="0">
                <a:effectLst/>
              </a:rPr>
              <a:t>가 </a:t>
            </a:r>
            <a:r>
              <a:rPr lang="ko-KR" altLang="en-US" sz="1200" dirty="0" err="1">
                <a:effectLst/>
              </a:rPr>
              <a:t>비식별화된</a:t>
            </a:r>
            <a:r>
              <a:rPr lang="ko-KR" altLang="en-US" sz="1200" dirty="0">
                <a:effectLst/>
              </a:rPr>
              <a:t> 분 단위 시점</a:t>
            </a:r>
          </a:p>
          <a:p>
            <a:r>
              <a:rPr lang="en-US" altLang="ko-KR" sz="1200" dirty="0">
                <a:effectLst/>
              </a:rPr>
              <a:t>Q: </a:t>
            </a:r>
            <a:r>
              <a:rPr lang="ko-KR" altLang="en-US" sz="1200" dirty="0">
                <a:effectLst/>
              </a:rPr>
              <a:t>유량</a:t>
            </a:r>
          </a:p>
          <a:p>
            <a:r>
              <a:rPr lang="en-US" altLang="ko-KR" sz="1200" dirty="0">
                <a:effectLst/>
              </a:rPr>
              <a:t>M: </a:t>
            </a:r>
            <a:r>
              <a:rPr lang="ko-KR" altLang="en-US" sz="1200" dirty="0">
                <a:effectLst/>
              </a:rPr>
              <a:t>펌프가동정보 </a:t>
            </a:r>
            <a:r>
              <a:rPr lang="en-US" altLang="ko-KR" sz="1200" dirty="0">
                <a:effectLst/>
              </a:rPr>
              <a:t>(On=1, Off=0)</a:t>
            </a:r>
          </a:p>
          <a:p>
            <a:r>
              <a:rPr lang="en-US" altLang="ko-KR" sz="1200" dirty="0">
                <a:effectLst/>
              </a:rPr>
              <a:t>P: </a:t>
            </a:r>
            <a:r>
              <a:rPr lang="ko-KR" altLang="en-US" sz="1200" dirty="0">
                <a:effectLst/>
              </a:rPr>
              <a:t>압력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7FE277-C2FB-4FE6-A11F-8562BD29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399" y="3573539"/>
            <a:ext cx="5936401" cy="216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9B896-7BAD-4E40-AF4E-107B7EC5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베이스라인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15DC7-4325-4165-9566-93A815CC7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96" y="1889633"/>
            <a:ext cx="46482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b="1" dirty="0"/>
              <a:t>Baseline</a:t>
            </a:r>
          </a:p>
          <a:p>
            <a:r>
              <a:rPr lang="ko-KR" altLang="en-US" sz="1900" dirty="0"/>
              <a:t>데이터 로드부터 모델 학습</a:t>
            </a:r>
            <a:r>
              <a:rPr lang="en-US" altLang="ko-KR" sz="1900" dirty="0"/>
              <a:t>, </a:t>
            </a:r>
            <a:r>
              <a:rPr lang="ko-KR" altLang="en-US" sz="1900" dirty="0"/>
              <a:t>추론</a:t>
            </a:r>
            <a:r>
              <a:rPr lang="en-US" altLang="ko-KR" sz="1900" dirty="0"/>
              <a:t>, </a:t>
            </a:r>
            <a:r>
              <a:rPr lang="ko-KR" altLang="en-US" sz="1900" dirty="0"/>
              <a:t>그리고 최종 제출까지 이어지는 </a:t>
            </a:r>
            <a:r>
              <a:rPr lang="en-US" altLang="ko-KR" sz="1900" dirty="0"/>
              <a:t>end-to-end </a:t>
            </a:r>
            <a:r>
              <a:rPr lang="ko-KR" altLang="en-US" sz="1900" dirty="0"/>
              <a:t>파이프라인</a:t>
            </a:r>
            <a:endParaRPr lang="en-US" altLang="ko-KR" sz="1900" dirty="0"/>
          </a:p>
          <a:p>
            <a:r>
              <a:rPr lang="en-US" altLang="ko-KR" sz="1900" dirty="0"/>
              <a:t>LSTM</a:t>
            </a:r>
            <a:r>
              <a:rPr lang="ko-KR" altLang="en-US" sz="1900" dirty="0"/>
              <a:t>과 </a:t>
            </a:r>
            <a:r>
              <a:rPr lang="ko-KR" altLang="en-US" sz="1900" dirty="0" err="1"/>
              <a:t>오토인코더를</a:t>
            </a:r>
            <a:r>
              <a:rPr lang="ko-KR" altLang="en-US" sz="1900" dirty="0"/>
              <a:t> 활용한 시계열 이상치 탐지 파이프라인을 구현하고 있으며</a:t>
            </a:r>
            <a:r>
              <a:rPr lang="en-US" altLang="ko-KR" sz="1900" dirty="0"/>
              <a:t>, </a:t>
            </a:r>
            <a:r>
              <a:rPr lang="ko-KR" altLang="en-US" sz="1900" dirty="0"/>
              <a:t>시계열 데이터의 특성을 고려해 윈도우 기반으로 학습 데이터를 생성하고</a:t>
            </a:r>
            <a:r>
              <a:rPr lang="en-US" altLang="ko-KR" sz="1900" dirty="0"/>
              <a:t>,</a:t>
            </a:r>
            <a:br>
              <a:rPr lang="en-US" altLang="ko-KR" sz="1900" dirty="0"/>
            </a:br>
            <a:r>
              <a:rPr lang="ko-KR" altLang="en-US" sz="1900" dirty="0"/>
              <a:t>정상 패턴을 학습하여 이를 기반으로 이상치를 탐지함</a:t>
            </a:r>
            <a:endParaRPr lang="en-US" altLang="ko-KR" sz="1900" dirty="0"/>
          </a:p>
          <a:p>
            <a:r>
              <a:rPr lang="ko-KR" altLang="en-US" sz="1900" dirty="0"/>
              <a:t>데이터의 관망 정보를 활용하여 </a:t>
            </a:r>
            <a:r>
              <a:rPr lang="en-US" altLang="ko-KR" sz="1900" dirty="0"/>
              <a:t>GNN(Graph Neural Networks) </a:t>
            </a:r>
            <a:r>
              <a:rPr lang="ko-KR" altLang="en-US" sz="1900" dirty="0"/>
              <a:t>등을 적용한다면</a:t>
            </a:r>
            <a:r>
              <a:rPr lang="en-US" altLang="ko-KR" sz="1900" dirty="0"/>
              <a:t>, </a:t>
            </a:r>
            <a:r>
              <a:rPr lang="ko-KR" altLang="en-US" sz="1900" dirty="0"/>
              <a:t>더 나은 성능을 기대해볼 수 있음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8671D4-926F-4437-AB1A-DAC0914C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632" y="1187777"/>
            <a:ext cx="5347691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0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D3051C-86A3-428B-AF56-BA9128467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54" y="372204"/>
            <a:ext cx="8283658" cy="30567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8DCA193-F672-43C8-9AD5-650F11D640C4}"/>
                  </a:ext>
                </a:extLst>
              </p14:cNvPr>
              <p14:cNvContentPartPr/>
              <p14:nvPr/>
            </p14:nvContentPartPr>
            <p14:xfrm>
              <a:off x="1093717" y="2328064"/>
              <a:ext cx="4053960" cy="759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8DCA193-F672-43C8-9AD5-650F11D640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9717" y="2220424"/>
                <a:ext cx="41616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F7A7719-6528-457C-A280-0F3E42BA52C2}"/>
                  </a:ext>
                </a:extLst>
              </p14:cNvPr>
              <p14:cNvContentPartPr/>
              <p14:nvPr/>
            </p14:nvContentPartPr>
            <p14:xfrm>
              <a:off x="933157" y="2573224"/>
              <a:ext cx="3578760" cy="482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F7A7719-6528-457C-A280-0F3E42BA52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9517" y="2465584"/>
                <a:ext cx="36864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584F1C4A-B2B2-4E2E-8BFA-14C24FDBB523}"/>
                  </a:ext>
                </a:extLst>
              </p14:cNvPr>
              <p14:cNvContentPartPr/>
              <p14:nvPr/>
            </p14:nvContentPartPr>
            <p14:xfrm>
              <a:off x="1074277" y="2705344"/>
              <a:ext cx="5755320" cy="669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584F1C4A-B2B2-4E2E-8BFA-14C24FDBB5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0637" y="2597344"/>
                <a:ext cx="58629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22EE1B4-CBB1-44B8-B8A7-294B09E73061}"/>
                  </a:ext>
                </a:extLst>
              </p14:cNvPr>
              <p14:cNvContentPartPr/>
              <p14:nvPr/>
            </p14:nvContentPartPr>
            <p14:xfrm>
              <a:off x="3562957" y="2971024"/>
              <a:ext cx="2659680" cy="468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22EE1B4-CBB1-44B8-B8A7-294B09E730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09317" y="2863384"/>
                <a:ext cx="2767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149C9F25-966B-409E-8A89-461D5FCAD5E7}"/>
                  </a:ext>
                </a:extLst>
              </p14:cNvPr>
              <p14:cNvContentPartPr/>
              <p14:nvPr/>
            </p14:nvContentPartPr>
            <p14:xfrm>
              <a:off x="961237" y="3109984"/>
              <a:ext cx="7170120" cy="579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149C9F25-966B-409E-8A89-461D5FCAD5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7597" y="3002344"/>
                <a:ext cx="72777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6BC33E30-FC55-4730-B463-871DAAE65EA6}"/>
                  </a:ext>
                </a:extLst>
              </p14:cNvPr>
              <p14:cNvContentPartPr/>
              <p14:nvPr/>
            </p14:nvContentPartPr>
            <p14:xfrm>
              <a:off x="1800397" y="3299344"/>
              <a:ext cx="5374080" cy="1144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6BC33E30-FC55-4730-B463-871DAAE65EA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46397" y="3191344"/>
                <a:ext cx="5481720" cy="3301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8CA70B37-3FDE-4A61-B1DF-44723464731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896" y="3748966"/>
            <a:ext cx="5405817" cy="27129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D0F79C-7364-43E9-8A89-9A221A5BBAE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3892886"/>
            <a:ext cx="5779077" cy="255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6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E98B8B0-573C-43DD-85FE-31433D570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2E733F7-C273-4A03-AC19-66FD9FDB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55" b="-1"/>
          <a:stretch/>
        </p:blipFill>
        <p:spPr>
          <a:xfrm>
            <a:off x="69448" y="162271"/>
            <a:ext cx="5845215" cy="312450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986129"/>
            <a:ext cx="6288261" cy="2253231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23FEEC-FB86-46FC-A416-3D46DF135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42" r="1" b="1"/>
          <a:stretch/>
        </p:blipFill>
        <p:spPr>
          <a:xfrm>
            <a:off x="6231103" y="3608872"/>
            <a:ext cx="5748757" cy="295258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370" y="47845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07046" y="5103601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F4AA93-C368-460E-A471-CCC3E82486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10941"/>
          <a:stretch/>
        </p:blipFill>
        <p:spPr>
          <a:xfrm>
            <a:off x="6277339" y="162271"/>
            <a:ext cx="5748757" cy="30967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A1FF55-095B-4795-8AE2-4D91D65211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" b="6799"/>
          <a:stretch/>
        </p:blipFill>
        <p:spPr>
          <a:xfrm>
            <a:off x="69448" y="3571225"/>
            <a:ext cx="5893859" cy="312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3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5A08F-DBAE-4764-9DE8-2F87975A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출품작 자체 모형 성능 및 한계 분석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4B4205-52FC-4134-878F-CB4F84B43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6" y="2075502"/>
            <a:ext cx="5429248" cy="36807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7B866D-BE07-40F1-B954-89F672CEE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154" y="2075502"/>
            <a:ext cx="5729467" cy="377984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95568BC-2EDA-4357-BFA2-D95C8ECF155F}"/>
              </a:ext>
            </a:extLst>
          </p:cNvPr>
          <p:cNvSpPr/>
          <p:nvPr/>
        </p:nvSpPr>
        <p:spPr>
          <a:xfrm>
            <a:off x="10049524" y="2595091"/>
            <a:ext cx="1930400" cy="26416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518A01-D796-4DD8-A663-93E037F538F4}"/>
              </a:ext>
            </a:extLst>
          </p:cNvPr>
          <p:cNvSpPr txBox="1"/>
          <p:nvPr/>
        </p:nvSpPr>
        <p:spPr>
          <a:xfrm>
            <a:off x="9115191" y="1976433"/>
            <a:ext cx="300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누수 발생구간 설정 시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ko-KR" altLang="en-US" sz="1400" dirty="0">
                <a:solidFill>
                  <a:srgbClr val="FF0000"/>
                </a:solidFill>
              </a:rPr>
              <a:t> 회귀모형 및 여러 실험을 통해 성능향상 가능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2EC1BC0-4F1D-43AC-AAD3-D545E6062F4A}"/>
              </a:ext>
            </a:extLst>
          </p:cNvPr>
          <p:cNvSpPr/>
          <p:nvPr/>
        </p:nvSpPr>
        <p:spPr>
          <a:xfrm>
            <a:off x="6208154" y="2833851"/>
            <a:ext cx="1930400" cy="21640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183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EB8D5-0483-4587-88DA-F520409B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ko-KR" altLang="en-US"/>
              <a:t>위팀 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14E3381-2795-4A11-8309-6D93A9BDB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016755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DD671DF-CE7E-4492-85B0-C033363C03F6}"/>
                  </a:ext>
                </a:extLst>
              </p14:cNvPr>
              <p14:cNvContentPartPr/>
              <p14:nvPr/>
            </p14:nvContentPartPr>
            <p14:xfrm>
              <a:off x="1253557" y="2703904"/>
              <a:ext cx="3827160" cy="583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DD671DF-CE7E-4492-85B0-C033363C0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9557" y="2596264"/>
                <a:ext cx="39348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44AA14C-28A2-42DA-BD35-EA51D8241DB3}"/>
                  </a:ext>
                </a:extLst>
              </p14:cNvPr>
              <p14:cNvContentPartPr/>
              <p14:nvPr/>
            </p14:nvContentPartPr>
            <p14:xfrm>
              <a:off x="1168957" y="3035104"/>
              <a:ext cx="4538160" cy="759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44AA14C-28A2-42DA-BD35-EA51D8241D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4957" y="2927104"/>
                <a:ext cx="46458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2E635EE-07A7-4406-9241-C1D733770CFB}"/>
                  </a:ext>
                </a:extLst>
              </p14:cNvPr>
              <p14:cNvContentPartPr/>
              <p14:nvPr/>
            </p14:nvContentPartPr>
            <p14:xfrm>
              <a:off x="1244197" y="3214744"/>
              <a:ext cx="5224680" cy="669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2E635EE-07A7-4406-9241-C1D733770C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90197" y="3106744"/>
                <a:ext cx="533232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3CC636C7-EFAA-48D0-971B-3BF65176C5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3599" y="496381"/>
            <a:ext cx="4397121" cy="1465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D7429C0-F39A-4565-AC37-D8C4FEF329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045" y="566400"/>
            <a:ext cx="3238781" cy="13255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BD85D2-9C47-4473-B2BA-5EF094DFF8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9363" y="3458345"/>
            <a:ext cx="6451184" cy="301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99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1D56D69-E25A-4AB0-8E17-F9FEA6EC8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694" y="223692"/>
            <a:ext cx="10036410" cy="29814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7F0E52F-5C4A-4A00-A8A4-F366DC7977AF}"/>
                  </a:ext>
                </a:extLst>
              </p14:cNvPr>
              <p14:cNvContentPartPr/>
              <p14:nvPr/>
            </p14:nvContentPartPr>
            <p14:xfrm>
              <a:off x="1442197" y="2469544"/>
              <a:ext cx="4186080" cy="860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7F0E52F-5C4A-4A00-A8A4-F366DC7977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8557" y="2361544"/>
                <a:ext cx="42937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8B5992D-4A42-41CD-A5AB-64BE02047DAC}"/>
                  </a:ext>
                </a:extLst>
              </p14:cNvPr>
              <p14:cNvContentPartPr/>
              <p14:nvPr/>
            </p14:nvContentPartPr>
            <p14:xfrm>
              <a:off x="2121157" y="2620024"/>
              <a:ext cx="5189760" cy="669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8B5992D-4A42-41CD-A5AB-64BE02047D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67157" y="2512384"/>
                <a:ext cx="529740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5C762B2E-F248-4BB9-B0FC-3B694ECAA5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17" y="3652888"/>
            <a:ext cx="4944443" cy="27741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C07115E-09D1-49A1-AE0A-E856302E5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3477" y="3429000"/>
            <a:ext cx="6762180" cy="31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1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1009</Words>
  <Application>Microsoft Office PowerPoint</Application>
  <PresentationFormat>와이드스크린</PresentationFormat>
  <Paragraphs>96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테마</vt:lpstr>
      <vt:lpstr>데이터마이닝 2차 주제선정</vt:lpstr>
      <vt:lpstr>2024 제4회 K-water AI 경진대회:  상수도 관망 이상 감지 AI 알고리즘 개발</vt:lpstr>
      <vt:lpstr>목차 </vt:lpstr>
      <vt:lpstr>공모전 소개</vt:lpstr>
      <vt:lpstr>공모전 소개</vt:lpstr>
      <vt:lpstr>선정 이유</vt:lpstr>
      <vt:lpstr>데이터 설명</vt:lpstr>
      <vt:lpstr>베이스라인 코드</vt:lpstr>
      <vt:lpstr>PowerPoint 프레젠테이션</vt:lpstr>
      <vt:lpstr>PowerPoint 프레젠테이션</vt:lpstr>
      <vt:lpstr>출품작 자체 모형 성능 및 한계 분석</vt:lpstr>
      <vt:lpstr>4위팀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제4회 K-water AI 경진대회:  상수도 관망 이상 감지 AI 알고리즘 개발</dc:title>
  <dc:creator>박 유진</dc:creator>
  <cp:lastModifiedBy>박 유진</cp:lastModifiedBy>
  <cp:revision>2</cp:revision>
  <dcterms:created xsi:type="dcterms:W3CDTF">2025-04-08T04:00:37Z</dcterms:created>
  <dcterms:modified xsi:type="dcterms:W3CDTF">2025-04-08T10:19:58Z</dcterms:modified>
</cp:coreProperties>
</file>